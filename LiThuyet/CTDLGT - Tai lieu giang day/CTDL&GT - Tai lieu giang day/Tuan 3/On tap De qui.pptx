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1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A0E1F6-BF4A-4809-A80F-FB2CDD88F42C}" type="datetimeFigureOut">
              <a:rPr lang="en-US" smtClean="0"/>
              <a:t>12/22/2012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43A50C-C8D3-4B7B-8A27-A46515741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30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USCLN (</a:t>
            </a:r>
            <a:r>
              <a:rPr lang="en-US" dirty="0" err="1" smtClean="0"/>
              <a:t>a,b</a:t>
            </a:r>
            <a:r>
              <a:rPr lang="en-US" dirty="0" smtClean="0"/>
              <a:t>) (</a:t>
            </a:r>
            <a:r>
              <a:rPr lang="en-US" dirty="0" err="1" smtClean="0"/>
              <a:t>với</a:t>
            </a:r>
            <a:r>
              <a:rPr lang="en-US" dirty="0" smtClean="0"/>
              <a:t> b&gt;a)</a:t>
            </a:r>
          </a:p>
          <a:p>
            <a:r>
              <a:rPr lang="en-US" dirty="0" smtClean="0"/>
              <a:t>USCLN(a, b) = USCLN(b mode a, 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65FFA-16DB-43EF-9087-5AD125723BF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4318">
              <a:defRPr/>
            </a:pP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quân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8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,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. </a:t>
            </a: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quân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(</a:t>
            </a:r>
            <a:r>
              <a:rPr lang="en-US" dirty="0" err="1"/>
              <a:t>x,y</a:t>
            </a:r>
            <a:r>
              <a:rPr lang="en-US" dirty="0"/>
              <a:t>)</a:t>
            </a:r>
            <a:r>
              <a:rPr lang="en-US" dirty="0" err="1"/>
              <a:t>mà</a:t>
            </a:r>
            <a:r>
              <a:rPr lang="en-US" dirty="0"/>
              <a:t> 3≤x,y≤6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16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, 4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ở 4 </a:t>
            </a:r>
            <a:r>
              <a:rPr lang="en-US" dirty="0" err="1"/>
              <a:t>góc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, 8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3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, 20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4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, 16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6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65FFA-16DB-43EF-9087-5AD125723BF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2577-6B7D-46B4-AA4E-CB8AB6A819DA}" type="datetimeFigureOut">
              <a:rPr lang="en-US" smtClean="0"/>
              <a:t>12/22/2012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50BA-AD45-403F-910B-296ABB862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996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2577-6B7D-46B4-AA4E-CB8AB6A819DA}" type="datetimeFigureOut">
              <a:rPr lang="en-US" smtClean="0"/>
              <a:t>12/22/2012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50BA-AD45-403F-910B-296ABB862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0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2577-6B7D-46B4-AA4E-CB8AB6A819DA}" type="datetimeFigureOut">
              <a:rPr lang="en-US" smtClean="0"/>
              <a:t>12/22/2012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50BA-AD45-403F-910B-296ABB862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2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2577-6B7D-46B4-AA4E-CB8AB6A819DA}" type="datetimeFigureOut">
              <a:rPr lang="en-US" smtClean="0"/>
              <a:t>12/22/2012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50BA-AD45-403F-910B-296ABB862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20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2577-6B7D-46B4-AA4E-CB8AB6A819DA}" type="datetimeFigureOut">
              <a:rPr lang="en-US" smtClean="0"/>
              <a:t>12/22/2012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50BA-AD45-403F-910B-296ABB862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33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2577-6B7D-46B4-AA4E-CB8AB6A819DA}" type="datetimeFigureOut">
              <a:rPr lang="en-US" smtClean="0"/>
              <a:t>12/22/2012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50BA-AD45-403F-910B-296ABB862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52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2577-6B7D-46B4-AA4E-CB8AB6A819DA}" type="datetimeFigureOut">
              <a:rPr lang="en-US" smtClean="0"/>
              <a:t>12/22/2012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50BA-AD45-403F-910B-296ABB862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96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2577-6B7D-46B4-AA4E-CB8AB6A819DA}" type="datetimeFigureOut">
              <a:rPr lang="en-US" smtClean="0"/>
              <a:t>12/22/2012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50BA-AD45-403F-910B-296ABB862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96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2577-6B7D-46B4-AA4E-CB8AB6A819DA}" type="datetimeFigureOut">
              <a:rPr lang="en-US" smtClean="0"/>
              <a:t>12/22/2012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50BA-AD45-403F-910B-296ABB862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44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2577-6B7D-46B4-AA4E-CB8AB6A819DA}" type="datetimeFigureOut">
              <a:rPr lang="en-US" smtClean="0"/>
              <a:t>12/22/2012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50BA-AD45-403F-910B-296ABB862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28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2577-6B7D-46B4-AA4E-CB8AB6A819DA}" type="datetimeFigureOut">
              <a:rPr lang="en-US" smtClean="0"/>
              <a:t>12/22/2012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50BA-AD45-403F-910B-296ABB862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1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F2577-6B7D-46B4-AA4E-CB8AB6A819DA}" type="datetimeFigureOut">
              <a:rPr lang="en-US" smtClean="0"/>
              <a:t>12/22/2012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D50BA-AD45-403F-910B-296ABB862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681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nttuan@fit.hcmus.edu.v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28800"/>
            <a:ext cx="7406640" cy="1472184"/>
          </a:xfrm>
        </p:spPr>
        <p:txBody>
          <a:bodyPr>
            <a:normAutofit/>
          </a:bodyPr>
          <a:lstStyle/>
          <a:p>
            <a:pPr algn="ctr"/>
            <a:r>
              <a:rPr lang="en-US" sz="6000" dirty="0" err="1" smtClean="0"/>
              <a:t>Ôn</a:t>
            </a:r>
            <a:r>
              <a:rPr lang="en-US" sz="6000" dirty="0" smtClean="0"/>
              <a:t> </a:t>
            </a:r>
            <a:r>
              <a:rPr lang="en-US" sz="6000" dirty="0" err="1" smtClean="0"/>
              <a:t>tập</a:t>
            </a:r>
            <a:r>
              <a:rPr lang="en-US" sz="6000" dirty="0" smtClean="0"/>
              <a:t>: </a:t>
            </a:r>
            <a:r>
              <a:rPr lang="en-US" sz="6000" dirty="0" err="1" smtClean="0"/>
              <a:t>Đệ</a:t>
            </a:r>
            <a:r>
              <a:rPr lang="en-US" sz="6000" dirty="0" smtClean="0"/>
              <a:t> Qui</a:t>
            </a:r>
            <a:endParaRPr lang="en-US" sz="6000" dirty="0"/>
          </a:p>
        </p:txBody>
      </p:sp>
      <p:pic>
        <p:nvPicPr>
          <p:cNvPr id="4" name="Picture 6" descr="http://aaee-scholar.pbworks.com/f/CDIO_general_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04800"/>
            <a:ext cx="16478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 descr="http://www.hcmus.edu.vn/images/stories/logo-khtn2009_transparency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304800"/>
            <a:ext cx="1355725" cy="10652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4197927" y="3810000"/>
            <a:ext cx="4495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800" dirty="0">
                <a:latin typeface="Arial" pitchFamily="34" charset="0"/>
              </a:rPr>
              <a:t>Nguyễn Tri Tuấn</a:t>
            </a:r>
          </a:p>
          <a:p>
            <a:pPr>
              <a:spcBef>
                <a:spcPct val="0"/>
              </a:spcBef>
            </a:pPr>
            <a:r>
              <a:rPr lang="en-US" sz="1800" dirty="0">
                <a:latin typeface="Arial" pitchFamily="34" charset="0"/>
              </a:rPr>
              <a:t>Khoa CNTT – </a:t>
            </a:r>
            <a:r>
              <a:rPr lang="en-US" sz="1800" dirty="0" err="1">
                <a:latin typeface="Arial" pitchFamily="34" charset="0"/>
              </a:rPr>
              <a:t>ĐH.KHTN.Tp.HCM</a:t>
            </a:r>
            <a:endParaRPr lang="en-US" sz="1800" dirty="0">
              <a:latin typeface="Arial" pitchFamily="34" charset="0"/>
            </a:endParaRPr>
          </a:p>
          <a:p>
            <a:pPr>
              <a:spcBef>
                <a:spcPct val="0"/>
              </a:spcBef>
            </a:pPr>
            <a:r>
              <a:rPr lang="en-US" sz="1800" dirty="0">
                <a:latin typeface="Arial" pitchFamily="34" charset="0"/>
              </a:rPr>
              <a:t>Email: </a:t>
            </a:r>
            <a:r>
              <a:rPr lang="en-US" sz="1800" dirty="0">
                <a:latin typeface="Arial" pitchFamily="34" charset="0"/>
                <a:hlinkClick r:id="rId4"/>
              </a:rPr>
              <a:t>nttuan@fit.hcmus.edu.vn</a:t>
            </a:r>
            <a:r>
              <a:rPr lang="en-US" sz="1800" dirty="0">
                <a:latin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141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Đệ</a:t>
            </a:r>
            <a:r>
              <a:rPr lang="en-US" dirty="0" smtClean="0"/>
              <a:t> qui (recursion)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Đưa ra 1 định nghĩa có sử dụng chính khái niệm đang cần định nghĩa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2819400"/>
            <a:ext cx="31496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270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đệ</a:t>
            </a:r>
            <a:r>
              <a:rPr lang="en-US" dirty="0" smtClean="0"/>
              <a:t> qui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dừng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(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nhiên</a:t>
            </a:r>
            <a:r>
              <a:rPr lang="en-US" dirty="0" smtClean="0"/>
              <a:t>,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quát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lui</a:t>
            </a:r>
            <a:r>
              <a:rPr lang="en-US" dirty="0" smtClean="0"/>
              <a:t> </a:t>
            </a:r>
            <a:r>
              <a:rPr lang="en-US" dirty="0" err="1" smtClean="0"/>
              <a:t>dần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nhiên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61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2286000" y="5257800"/>
            <a:ext cx="4648200" cy="1219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286000" y="3200400"/>
            <a:ext cx="4953000" cy="1905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86000" y="1219200"/>
            <a:ext cx="3886200" cy="1828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667000" y="1371600"/>
            <a:ext cx="3581400" cy="16712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dirty="0" err="1" smtClean="0">
                <a:solidFill>
                  <a:srgbClr val="000000"/>
                </a:solidFill>
                <a:latin typeface="Arial" pitchFamily="34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Arial" pitchFamily="34" charset="0"/>
              </a:rPr>
              <a:t> Process1(</a:t>
            </a:r>
            <a:r>
              <a:rPr lang="en-US" dirty="0" err="1" smtClean="0">
                <a:solidFill>
                  <a:srgbClr val="000000"/>
                </a:solidFill>
                <a:latin typeface="Arial" pitchFamily="34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Arial" pitchFamily="34" charset="0"/>
              </a:rPr>
              <a:t> n) {</a:t>
            </a:r>
            <a:endParaRPr lang="en-US" dirty="0" smtClean="0"/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itchFamily="34" charset="0"/>
              </a:rPr>
              <a:t>    if (n==0)</a:t>
            </a:r>
            <a:endParaRPr lang="en-US" dirty="0" smtClean="0"/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dirty="0" smtClean="0">
                <a:solidFill>
                  <a:srgbClr val="000000"/>
                </a:solidFill>
                <a:latin typeface="Arial" pitchFamily="34" charset="0"/>
              </a:rPr>
              <a:t>         return 1;</a:t>
            </a:r>
            <a:endParaRPr lang="en-US" dirty="0" smtClean="0"/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dirty="0" smtClean="0">
                <a:solidFill>
                  <a:srgbClr val="000000"/>
                </a:solidFill>
                <a:latin typeface="Arial" pitchFamily="34" charset="0"/>
              </a:rPr>
              <a:t>     else</a:t>
            </a:r>
            <a:endParaRPr lang="en-US" dirty="0" smtClean="0"/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dirty="0" smtClean="0">
                <a:solidFill>
                  <a:srgbClr val="000000"/>
                </a:solidFill>
                <a:latin typeface="Arial" pitchFamily="34" charset="0"/>
              </a:rPr>
              <a:t>         return n* Process1(n-1);</a:t>
            </a:r>
            <a:endParaRPr lang="en-US" dirty="0" smtClean="0"/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dirty="0" smtClean="0">
                <a:solidFill>
                  <a:srgbClr val="000000"/>
                </a:solidFill>
                <a:latin typeface="Arial" pitchFamily="34" charset="0"/>
              </a:rPr>
              <a:t>}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667000" y="52578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 smtClean="0"/>
              <a:t>int</a:t>
            </a:r>
            <a:r>
              <a:rPr lang="en-US" dirty="0" smtClean="0"/>
              <a:t> Process3(</a:t>
            </a:r>
            <a:r>
              <a:rPr lang="en-US" dirty="0" err="1" smtClean="0"/>
              <a:t>int</a:t>
            </a:r>
            <a:r>
              <a:rPr lang="en-US" dirty="0" smtClean="0"/>
              <a:t> a, </a:t>
            </a:r>
            <a:r>
              <a:rPr lang="en-US" dirty="0" err="1" smtClean="0"/>
              <a:t>int</a:t>
            </a:r>
            <a:r>
              <a:rPr lang="en-US" dirty="0" smtClean="0"/>
              <a:t> b) {</a:t>
            </a:r>
          </a:p>
          <a:p>
            <a:r>
              <a:rPr lang="en-US" dirty="0"/>
              <a:t> </a:t>
            </a:r>
            <a:r>
              <a:rPr lang="en-US" dirty="0" smtClean="0"/>
              <a:t>         if (a == 0) return(b);</a:t>
            </a:r>
          </a:p>
          <a:p>
            <a:r>
              <a:rPr lang="en-US" dirty="0" smtClean="0"/>
              <a:t>    return(Process3(</a:t>
            </a:r>
            <a:r>
              <a:rPr lang="en-US" dirty="0" err="1" smtClean="0"/>
              <a:t>b%a</a:t>
            </a:r>
            <a:r>
              <a:rPr lang="en-US" dirty="0" smtClean="0"/>
              <a:t>, a));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667000" y="3200400"/>
            <a:ext cx="4876800" cy="1934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dirty="0" err="1" smtClean="0">
                <a:latin typeface="Arial" pitchFamily="34" charset="0"/>
              </a:rPr>
              <a:t>int</a:t>
            </a:r>
            <a:r>
              <a:rPr lang="en-US" dirty="0" smtClean="0">
                <a:latin typeface="Arial" pitchFamily="34" charset="0"/>
              </a:rPr>
              <a:t>  Process2(</a:t>
            </a:r>
            <a:r>
              <a:rPr lang="en-US" dirty="0" err="1" smtClean="0">
                <a:latin typeface="Arial" pitchFamily="34" charset="0"/>
              </a:rPr>
              <a:t>int</a:t>
            </a:r>
            <a:r>
              <a:rPr lang="en-US" dirty="0" smtClean="0">
                <a:latin typeface="Arial" pitchFamily="34" charset="0"/>
              </a:rPr>
              <a:t> n) {</a:t>
            </a:r>
            <a:endParaRPr lang="en-US" dirty="0" smtClean="0"/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dirty="0" smtClean="0">
                <a:latin typeface="Arial" pitchFamily="34" charset="0"/>
              </a:rPr>
              <a:t>      if (n==0) return 0; </a:t>
            </a:r>
            <a:endParaRPr lang="en-US" dirty="0" smtClean="0"/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dirty="0" smtClean="0">
                <a:latin typeface="Arial" pitchFamily="34" charset="0"/>
              </a:rPr>
              <a:t>else</a:t>
            </a:r>
            <a:endParaRPr lang="en-US" dirty="0" smtClean="0"/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dirty="0" smtClean="0">
                <a:latin typeface="Arial" pitchFamily="34" charset="0"/>
              </a:rPr>
              <a:t>      if (n==1) return 1; </a:t>
            </a:r>
            <a:endParaRPr lang="en-US" dirty="0" smtClean="0"/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dirty="0" smtClean="0">
                <a:latin typeface="Arial" pitchFamily="34" charset="0"/>
              </a:rPr>
              <a:t>else</a:t>
            </a:r>
            <a:endParaRPr lang="en-US" dirty="0" smtClean="0"/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dirty="0" smtClean="0">
                <a:latin typeface="Arial" pitchFamily="34" charset="0"/>
              </a:rPr>
              <a:t>      return Process2 (n-1) + Process2(n-2);</a:t>
            </a:r>
            <a:endParaRPr lang="en-US" dirty="0" smtClean="0"/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dirty="0" smtClean="0">
                <a:latin typeface="Arial" pitchFamily="34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87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Ưu</a:t>
            </a:r>
            <a:r>
              <a:rPr lang="en-US" dirty="0" smtClean="0"/>
              <a:t>, </a:t>
            </a:r>
            <a:r>
              <a:rPr lang="en-US" dirty="0" err="1" smtClean="0"/>
              <a:t>khuyết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3429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Tx/>
              <a:buChar char="•"/>
            </a:pPr>
            <a:r>
              <a:rPr lang="en-US" sz="2200" kern="0" dirty="0" err="1" smtClean="0">
                <a:solidFill>
                  <a:srgbClr val="CC0000"/>
                </a:solidFill>
                <a:latin typeface="Arial" pitchFamily="34" charset="0"/>
              </a:rPr>
              <a:t>Ưu</a:t>
            </a:r>
            <a:r>
              <a:rPr lang="en-US" sz="2200" kern="0" dirty="0" smtClean="0">
                <a:solidFill>
                  <a:srgbClr val="CC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CC0000"/>
                </a:solidFill>
                <a:latin typeface="Arial" pitchFamily="34" charset="0"/>
              </a:rPr>
              <a:t>điểm</a:t>
            </a:r>
            <a:r>
              <a:rPr lang="en-US" sz="2200" kern="0" dirty="0" smtClean="0">
                <a:solidFill>
                  <a:srgbClr val="CC0000"/>
                </a:solidFill>
                <a:latin typeface="Arial" pitchFamily="34" charset="0"/>
              </a:rPr>
              <a:t>:</a:t>
            </a:r>
            <a:endParaRPr lang="en-US" kern="0" dirty="0" smtClean="0">
              <a:solidFill>
                <a:srgbClr val="000000"/>
              </a:solidFill>
              <a:latin typeface="Times New Roman"/>
            </a:endParaRPr>
          </a:p>
          <a:p>
            <a:pPr marL="857250" lvl="2" indent="-28575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Courier New" pitchFamily="49" charset="0"/>
              <a:buChar char="o"/>
            </a:pP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Phù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hợp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khi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mô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tả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các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cấu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trúc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dữ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liệu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thuật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toán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các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vấn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đề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có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tính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qui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nạp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.</a:t>
            </a:r>
            <a:endParaRPr lang="en-US" kern="0" dirty="0" smtClean="0">
              <a:solidFill>
                <a:srgbClr val="000000"/>
              </a:solidFill>
              <a:latin typeface="Times New Roman"/>
            </a:endParaRPr>
          </a:p>
          <a:p>
            <a:pPr marL="857250" lvl="2" indent="-28575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Courier New" pitchFamily="49" charset="0"/>
              <a:buChar char="o"/>
            </a:pP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Mô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tả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tập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lớn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các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phép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tính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thao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tác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bởi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1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số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ít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lệnh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.</a:t>
            </a:r>
            <a:endParaRPr lang="en-US" kern="0" dirty="0" smtClean="0">
              <a:solidFill>
                <a:srgbClr val="000000"/>
              </a:solidFill>
              <a:latin typeface="Times New Roman"/>
            </a:endParaRPr>
          </a:p>
          <a:p>
            <a:pPr marL="857250" lvl="2" indent="-28575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Courier New" pitchFamily="49" charset="0"/>
              <a:buChar char="o"/>
            </a:pP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Thuật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toán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sáng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dễ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hiểu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gần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với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suy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nghĩ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của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con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người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.</a:t>
            </a:r>
          </a:p>
          <a:p>
            <a:pPr marL="857250" lvl="2" indent="-28575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Courier New" pitchFamily="49" charset="0"/>
              <a:buChar char="o"/>
            </a:pPr>
            <a:endParaRPr lang="en-US" kern="0" dirty="0" smtClean="0">
              <a:solidFill>
                <a:srgbClr val="000000"/>
              </a:solidFill>
              <a:latin typeface="Times New Roman"/>
            </a:endParaRPr>
          </a:p>
          <a:p>
            <a:pPr marL="457200" lvl="1" indent="-3429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Tx/>
              <a:buChar char="•"/>
            </a:pPr>
            <a:r>
              <a:rPr lang="en-US" sz="2200" kern="0" dirty="0" err="1" smtClean="0">
                <a:solidFill>
                  <a:srgbClr val="CC0000"/>
                </a:solidFill>
                <a:latin typeface="Arial" pitchFamily="34" charset="0"/>
              </a:rPr>
              <a:t>Khuyết</a:t>
            </a:r>
            <a:r>
              <a:rPr lang="en-US" sz="2200" kern="0" dirty="0" smtClean="0">
                <a:solidFill>
                  <a:srgbClr val="CC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CC0000"/>
                </a:solidFill>
                <a:latin typeface="Arial" pitchFamily="34" charset="0"/>
              </a:rPr>
              <a:t>điểm</a:t>
            </a:r>
            <a:r>
              <a:rPr lang="en-US" sz="2200" kern="0" dirty="0" smtClean="0">
                <a:solidFill>
                  <a:srgbClr val="CC0000"/>
                </a:solidFill>
                <a:latin typeface="Arial" pitchFamily="34" charset="0"/>
              </a:rPr>
              <a:t>:</a:t>
            </a:r>
            <a:endParaRPr lang="en-US" kern="0" dirty="0" smtClean="0">
              <a:solidFill>
                <a:srgbClr val="000000"/>
              </a:solidFill>
              <a:latin typeface="Times New Roman"/>
            </a:endParaRPr>
          </a:p>
          <a:p>
            <a:pPr marL="857250" lvl="2" indent="-28575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Courier New" pitchFamily="49" charset="0"/>
              <a:buChar char="o"/>
            </a:pP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Số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lần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gọi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đệ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qui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là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hữu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hạn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(Stack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là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hữu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200" kern="0" dirty="0" err="1" smtClean="0">
                <a:solidFill>
                  <a:srgbClr val="000000"/>
                </a:solidFill>
                <a:latin typeface="Arial" pitchFamily="34" charset="0"/>
              </a:rPr>
              <a:t>hạn</a:t>
            </a:r>
            <a:r>
              <a:rPr lang="en-US" sz="2200" kern="0" dirty="0" smtClean="0">
                <a:solidFill>
                  <a:srgbClr val="000000"/>
                </a:solidFill>
                <a:latin typeface="Arial" pitchFamily="34" charset="0"/>
              </a:rPr>
              <a:t>!).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137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708392" cy="11430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tuần</a:t>
            </a:r>
            <a:r>
              <a:rPr lang="en-US" dirty="0" smtClean="0"/>
              <a:t> (Knight's tour)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447800"/>
            <a:ext cx="7498080" cy="48006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Cho </a:t>
            </a:r>
            <a:r>
              <a:rPr lang="en-US" sz="2800" dirty="0" err="1" smtClean="0"/>
              <a:t>bàn</a:t>
            </a:r>
            <a:r>
              <a:rPr lang="en-US" sz="2800" dirty="0" smtClean="0"/>
              <a:t> </a:t>
            </a:r>
            <a:r>
              <a:rPr lang="en-US" sz="2800" dirty="0" err="1" smtClean="0"/>
              <a:t>cờ</a:t>
            </a:r>
            <a:r>
              <a:rPr lang="en-US" sz="2800" dirty="0" smtClean="0"/>
              <a:t> </a:t>
            </a:r>
            <a:r>
              <a:rPr lang="en-US" sz="2800" dirty="0" err="1" smtClean="0"/>
              <a:t>vua</a:t>
            </a:r>
            <a:r>
              <a:rPr lang="en-US" sz="2800" dirty="0" smtClean="0"/>
              <a:t> </a:t>
            </a:r>
            <a:r>
              <a:rPr lang="en-US" sz="2800" dirty="0" err="1" smtClean="0"/>
              <a:t>có</a:t>
            </a:r>
            <a:r>
              <a:rPr lang="en-US" sz="2800" dirty="0" smtClean="0"/>
              <a:t> 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</a:t>
            </a:r>
            <a:r>
              <a:rPr lang="en-US" sz="28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x n </a:t>
            </a:r>
            <a:r>
              <a:rPr lang="en-US" sz="2800" dirty="0" smtClean="0"/>
              <a:t>ô, </a:t>
            </a:r>
            <a:r>
              <a:rPr lang="en-US" sz="2800" dirty="0" err="1" smtClean="0"/>
              <a:t>Hãy</a:t>
            </a:r>
            <a:r>
              <a:rPr lang="en-US" sz="2800" dirty="0" smtClean="0"/>
              <a:t> </a:t>
            </a:r>
            <a:r>
              <a:rPr lang="en-US" sz="2800" dirty="0" err="1" smtClean="0"/>
              <a:t>chỉ</a:t>
            </a:r>
            <a:r>
              <a:rPr lang="en-US" sz="2800" dirty="0" smtClean="0"/>
              <a:t> </a:t>
            </a:r>
            <a:r>
              <a:rPr lang="en-US" sz="2800" dirty="0" err="1" smtClean="0"/>
              <a:t>ra</a:t>
            </a:r>
            <a:r>
              <a:rPr lang="en-US" sz="2800" dirty="0" smtClean="0"/>
              <a:t> </a:t>
            </a: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hành</a:t>
            </a:r>
            <a:r>
              <a:rPr lang="en-US" sz="2800" dirty="0" smtClean="0"/>
              <a:t> </a:t>
            </a:r>
            <a:r>
              <a:rPr lang="en-US" sz="2800" dirty="0" err="1" smtClean="0"/>
              <a:t>trình</a:t>
            </a:r>
            <a:r>
              <a:rPr lang="en-US" sz="2800" dirty="0" smtClean="0"/>
              <a:t> (</a:t>
            </a:r>
            <a:r>
              <a:rPr lang="en-US" sz="2800" dirty="0" err="1" smtClean="0"/>
              <a:t>nếu</a:t>
            </a:r>
            <a:r>
              <a:rPr lang="en-US" sz="2800" dirty="0" smtClean="0"/>
              <a:t> </a:t>
            </a:r>
            <a:r>
              <a:rPr lang="en-US" sz="2800" dirty="0" err="1" smtClean="0"/>
              <a:t>có</a:t>
            </a:r>
            <a:r>
              <a:rPr lang="en-US" sz="2800" dirty="0" smtClean="0"/>
              <a:t>) </a:t>
            </a:r>
            <a:r>
              <a:rPr lang="en-US" sz="2800" dirty="0" err="1" smtClean="0"/>
              <a:t>của</a:t>
            </a:r>
            <a:r>
              <a:rPr lang="en-US" sz="2800" dirty="0" smtClean="0"/>
              <a:t> con </a:t>
            </a:r>
            <a:r>
              <a:rPr lang="en-US" sz="2800" dirty="0" err="1" smtClean="0"/>
              <a:t>mã</a:t>
            </a:r>
            <a:r>
              <a:rPr lang="en-US" sz="2800" dirty="0" smtClean="0"/>
              <a:t> </a:t>
            </a:r>
            <a:r>
              <a:rPr lang="en-US" sz="2800" dirty="0" err="1" smtClean="0"/>
              <a:t>sao</a:t>
            </a:r>
            <a:r>
              <a:rPr lang="en-US" sz="2800" dirty="0" smtClean="0"/>
              <a:t> </a:t>
            </a:r>
            <a:r>
              <a:rPr lang="en-US" sz="2800" dirty="0" err="1" smtClean="0"/>
              <a:t>cho</a:t>
            </a:r>
            <a:r>
              <a:rPr lang="en-US" sz="2800" dirty="0" smtClean="0"/>
              <a:t> con </a:t>
            </a:r>
            <a:r>
              <a:rPr lang="en-US" sz="2800" dirty="0" err="1" smtClean="0"/>
              <a:t>mã</a:t>
            </a:r>
            <a:r>
              <a:rPr lang="en-US" sz="2800" dirty="0" smtClean="0"/>
              <a:t> </a:t>
            </a:r>
            <a:r>
              <a:rPr lang="en-US" sz="2800" dirty="0" err="1" smtClean="0"/>
              <a:t>đi</a:t>
            </a:r>
            <a:r>
              <a:rPr lang="en-US" sz="2800" dirty="0" smtClean="0"/>
              <a:t> qua </a:t>
            </a:r>
            <a:r>
              <a:rPr lang="en-US" sz="2800" dirty="0" err="1" smtClean="0"/>
              <a:t>tất</a:t>
            </a:r>
            <a:r>
              <a:rPr lang="en-US" sz="2800" dirty="0" smtClean="0"/>
              <a:t> </a:t>
            </a:r>
            <a:r>
              <a:rPr lang="en-US" sz="2800" dirty="0" err="1" smtClean="0"/>
              <a:t>cả</a:t>
            </a:r>
            <a:r>
              <a:rPr lang="en-US" sz="2800" dirty="0" smtClean="0"/>
              <a:t> </a:t>
            </a:r>
            <a:r>
              <a:rPr lang="en-US" sz="2800" dirty="0" err="1" smtClean="0"/>
              <a:t>cá</a:t>
            </a:r>
            <a:r>
              <a:rPr lang="en-US" sz="2800" dirty="0" smtClean="0"/>
              <a:t> ô </a:t>
            </a:r>
            <a:r>
              <a:rPr lang="en-US" sz="2800" dirty="0" err="1" smtClean="0"/>
              <a:t>của</a:t>
            </a:r>
            <a:r>
              <a:rPr lang="en-US" sz="2800" dirty="0" smtClean="0"/>
              <a:t> </a:t>
            </a:r>
            <a:r>
              <a:rPr lang="en-US" sz="2800" dirty="0" err="1" smtClean="0"/>
              <a:t>bàn</a:t>
            </a:r>
            <a:r>
              <a:rPr lang="en-US" sz="2800" dirty="0" smtClean="0"/>
              <a:t> </a:t>
            </a:r>
            <a:r>
              <a:rPr lang="en-US" sz="2800" dirty="0" err="1" smtClean="0"/>
              <a:t>cờ,mỗi</a:t>
            </a:r>
            <a:r>
              <a:rPr lang="en-US" sz="2800" dirty="0" smtClean="0"/>
              <a:t> ô </a:t>
            </a:r>
            <a:r>
              <a:rPr lang="en-US" sz="2800" dirty="0" err="1" smtClean="0"/>
              <a:t>đi</a:t>
            </a:r>
            <a:r>
              <a:rPr lang="en-US" sz="2800" dirty="0" smtClean="0"/>
              <a:t> qua </a:t>
            </a:r>
            <a:r>
              <a:rPr lang="en-US" sz="2800" dirty="0" err="1" smtClean="0"/>
              <a:t>đúng</a:t>
            </a:r>
            <a:r>
              <a:rPr lang="en-US" sz="2800" dirty="0" smtClean="0"/>
              <a:t> 1 </a:t>
            </a:r>
            <a:r>
              <a:rPr lang="en-US" sz="2800" dirty="0" err="1" smtClean="0"/>
              <a:t>lần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NP-Complete, Hamilton, </a:t>
            </a:r>
            <a:r>
              <a:rPr lang="en-US" sz="2800" dirty="0" err="1" smtClean="0"/>
              <a:t>Warnsdorff</a:t>
            </a:r>
            <a:r>
              <a:rPr lang="en-US" sz="2800" dirty="0" smtClean="0"/>
              <a:t>, …</a:t>
            </a:r>
            <a:endParaRPr lang="en-US" sz="2800" dirty="0"/>
          </a:p>
        </p:txBody>
      </p:sp>
      <p:pic>
        <p:nvPicPr>
          <p:cNvPr id="2050" name="Picture 2" descr="http://upload.wikimedia.org/wikipedia/commons/thumb/0/0f/Knight%27s_tour_anim.gif/200px-Knight%27s_tour_anim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200400"/>
            <a:ext cx="1981200" cy="1981200"/>
          </a:xfrm>
          <a:prstGeom prst="rect">
            <a:avLst/>
          </a:prstGeom>
          <a:noFill/>
        </p:spPr>
      </p:pic>
      <p:pic>
        <p:nvPicPr>
          <p:cNvPr id="2052" name="Picture 4" descr="http://upload.wikimedia.org/wikipedia/commons/thumb/c/ca/Knights-Tour-Animation.gif/200px-Knights-Tour-Animation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8800" y="3276600"/>
            <a:ext cx="1905000" cy="1905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834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Ý </a:t>
            </a:r>
            <a:r>
              <a:rPr lang="en-US" dirty="0" err="1" smtClean="0"/>
              <a:t>tưởng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X</a:t>
            </a:r>
            <a:r>
              <a:rPr lang="vi-VN" dirty="0" smtClean="0"/>
              <a:t>uất phát từ 1 ô</a:t>
            </a:r>
            <a:r>
              <a:rPr lang="en-US" dirty="0" smtClean="0"/>
              <a:t>, </a:t>
            </a:r>
            <a:r>
              <a:rPr lang="vi-VN" dirty="0" smtClean="0"/>
              <a:t>cho quân mã thử đi tiếp 1 ô (có 8 nước đi có thể)</a:t>
            </a:r>
            <a:endParaRPr lang="en-US" dirty="0" smtClean="0"/>
          </a:p>
          <a:p>
            <a:r>
              <a:rPr lang="vi-VN" dirty="0" smtClean="0"/>
              <a:t>Tại mỗi nước đi kiểm tra xem tổng số nước đi bằng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x </a:t>
            </a:r>
            <a:r>
              <a:rPr lang="vi-VN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n</a:t>
            </a:r>
            <a:r>
              <a:rPr lang="vi-VN" dirty="0" smtClean="0"/>
              <a:t> chưa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: </a:t>
            </a:r>
            <a:r>
              <a:rPr lang="en-US" dirty="0" err="1" smtClean="0"/>
              <a:t>Dừng</a:t>
            </a:r>
            <a:endParaRPr lang="en-US" dirty="0" smtClean="0"/>
          </a:p>
          <a:p>
            <a:pPr lvl="1"/>
            <a:r>
              <a:rPr lang="en-US" dirty="0" err="1" smtClean="0"/>
              <a:t>Ngược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: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đệ</a:t>
            </a:r>
            <a:r>
              <a:rPr lang="en-US" dirty="0" smtClean="0"/>
              <a:t> qui </a:t>
            </a:r>
            <a:r>
              <a:rPr lang="en-US" dirty="0" err="1" smtClean="0"/>
              <a:t>tiếp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55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295400"/>
            <a:ext cx="7498080" cy="4800600"/>
          </a:xfrm>
        </p:spPr>
        <p:txBody>
          <a:bodyPr/>
          <a:lstStyle/>
          <a:p>
            <a:r>
              <a:rPr lang="en-US" sz="2400" dirty="0" smtClean="0"/>
              <a:t>board[n][n]: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bàn</a:t>
            </a:r>
            <a:r>
              <a:rPr lang="en-US" sz="2400" dirty="0" smtClean="0"/>
              <a:t> </a:t>
            </a:r>
            <a:r>
              <a:rPr lang="en-US" sz="2400" dirty="0" err="1" smtClean="0"/>
              <a:t>cờ</a:t>
            </a:r>
            <a:endParaRPr lang="en-US" sz="2400" dirty="0" smtClean="0"/>
          </a:p>
          <a:p>
            <a:pPr lvl="1"/>
            <a:r>
              <a:rPr lang="en-US" sz="2400" dirty="0" smtClean="0"/>
              <a:t>board[</a:t>
            </a:r>
            <a:r>
              <a:rPr lang="en-US" sz="2400" dirty="0" err="1" smtClean="0"/>
              <a:t>i</a:t>
            </a:r>
            <a:r>
              <a:rPr lang="en-US" sz="2400" dirty="0" smtClean="0"/>
              <a:t>][j]=0 </a:t>
            </a:r>
            <a:r>
              <a:rPr lang="en-US" sz="2400" dirty="0" err="1" smtClean="0"/>
              <a:t>khi</a:t>
            </a:r>
            <a:r>
              <a:rPr lang="en-US" sz="2400" dirty="0" smtClean="0"/>
              <a:t> </a:t>
            </a:r>
            <a:r>
              <a:rPr lang="en-US" sz="2400" dirty="0" err="1" smtClean="0"/>
              <a:t>quân</a:t>
            </a:r>
            <a:r>
              <a:rPr lang="en-US" sz="2400" dirty="0" smtClean="0"/>
              <a:t> </a:t>
            </a:r>
            <a:r>
              <a:rPr lang="en-US" sz="2400" dirty="0" err="1" smtClean="0"/>
              <a:t>mã</a:t>
            </a:r>
            <a:r>
              <a:rPr lang="en-US" sz="2400" dirty="0" smtClean="0"/>
              <a:t> </a:t>
            </a:r>
            <a:r>
              <a:rPr lang="en-US" sz="2400" dirty="0" err="1" smtClean="0"/>
              <a:t>chưa</a:t>
            </a:r>
            <a:r>
              <a:rPr lang="en-US" sz="2400" dirty="0" smtClean="0"/>
              <a:t> </a:t>
            </a:r>
            <a:r>
              <a:rPr lang="en-US" sz="2400" dirty="0" err="1" smtClean="0"/>
              <a:t>đi</a:t>
            </a:r>
            <a:r>
              <a:rPr lang="en-US" sz="2400" dirty="0" smtClean="0"/>
              <a:t> qua</a:t>
            </a:r>
          </a:p>
          <a:p>
            <a:pPr lvl="1"/>
            <a:r>
              <a:rPr lang="en-US" sz="2400" dirty="0" smtClean="0"/>
              <a:t>board[</a:t>
            </a:r>
            <a:r>
              <a:rPr lang="en-US" sz="2400" dirty="0" err="1" smtClean="0"/>
              <a:t>i</a:t>
            </a:r>
            <a:r>
              <a:rPr lang="en-US" sz="2400" dirty="0" smtClean="0"/>
              <a:t>][j]&gt;0 </a:t>
            </a:r>
            <a:r>
              <a:rPr lang="en-US" sz="2400" dirty="0" err="1" smtClean="0"/>
              <a:t>khi</a:t>
            </a:r>
            <a:r>
              <a:rPr lang="en-US" sz="2400" dirty="0" smtClean="0"/>
              <a:t> </a:t>
            </a:r>
            <a:r>
              <a:rPr lang="en-US" sz="2400" dirty="0" err="1" smtClean="0"/>
              <a:t>quân</a:t>
            </a:r>
            <a:r>
              <a:rPr lang="en-US" sz="2400" dirty="0" smtClean="0"/>
              <a:t> </a:t>
            </a:r>
            <a:r>
              <a:rPr lang="en-US" sz="2400" dirty="0" err="1" smtClean="0"/>
              <a:t>mã</a:t>
            </a:r>
            <a:r>
              <a:rPr lang="en-US" sz="2400" dirty="0" smtClean="0"/>
              <a:t> </a:t>
            </a:r>
            <a:r>
              <a:rPr lang="en-US" sz="2400" dirty="0" err="1" smtClean="0"/>
              <a:t>đã</a:t>
            </a:r>
            <a:r>
              <a:rPr lang="en-US" sz="2400" dirty="0" smtClean="0"/>
              <a:t> </a:t>
            </a:r>
            <a:r>
              <a:rPr lang="en-US" sz="2400" dirty="0" err="1" smtClean="0"/>
              <a:t>đi</a:t>
            </a:r>
            <a:r>
              <a:rPr lang="en-US" sz="2400" dirty="0" smtClean="0"/>
              <a:t> qua</a:t>
            </a:r>
          </a:p>
          <a:p>
            <a:r>
              <a:rPr lang="en-US" sz="2400" dirty="0" smtClean="0"/>
              <a:t>r[8], c[8]: </a:t>
            </a:r>
            <a:r>
              <a:rPr lang="vi-VN" sz="2400" dirty="0" smtClean="0"/>
              <a:t>độ dời của bước đi kế tiếp</a:t>
            </a:r>
            <a:endParaRPr lang="en-US" sz="2400" dirty="0" smtClean="0"/>
          </a:p>
          <a:p>
            <a:pPr lvl="1"/>
            <a:r>
              <a:rPr lang="en-US" sz="2400" dirty="0" smtClean="0"/>
              <a:t>r[8] = {-2, -2, -1, -1,  1, 1,  2, 2}</a:t>
            </a:r>
          </a:p>
          <a:p>
            <a:pPr lvl="1"/>
            <a:r>
              <a:rPr lang="en-US" sz="2400" dirty="0" smtClean="0"/>
              <a:t>c[8] = {-1,  1, -2,  2, -2, 2, -1, 1}</a:t>
            </a:r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21506" name="Picture 2" descr="http://nd1.upanh.com/b2.s7.d4/eb6ab31edf5c204df4f7700fcf7fd60e_35820131.8buocdicuaconm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4191000"/>
            <a:ext cx="4238625" cy="2362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2646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KnightTour</a:t>
            </a:r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</a:p>
          <a:p>
            <a:pPr lvl="1">
              <a:buNone/>
            </a:pPr>
            <a:r>
              <a:rPr lang="en-US" dirty="0" smtClean="0"/>
              <a:t>for (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j=0</a:t>
            </a:r>
            <a:r>
              <a:rPr lang="en-US" dirty="0" smtClean="0"/>
              <a:t> →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7</a:t>
            </a:r>
            <a:r>
              <a:rPr lang="en-US" dirty="0" smtClean="0"/>
              <a:t>)  //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8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		if (</a:t>
            </a:r>
            <a:r>
              <a:rPr lang="en-US" dirty="0" err="1" smtClean="0"/>
              <a:t>Chấp</a:t>
            </a:r>
            <a:r>
              <a:rPr lang="en-US" dirty="0" smtClean="0"/>
              <a:t> </a:t>
            </a:r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j</a:t>
            </a:r>
            <a:r>
              <a:rPr lang="en-US" dirty="0" smtClean="0"/>
              <a:t>)</a:t>
            </a:r>
          </a:p>
          <a:p>
            <a:pPr lvl="1">
              <a:buNone/>
            </a:pPr>
            <a:r>
              <a:rPr lang="en-US" dirty="0" smtClean="0"/>
              <a:t>		{</a:t>
            </a:r>
          </a:p>
          <a:p>
            <a:pPr lvl="2">
              <a:buNone/>
            </a:pPr>
            <a:r>
              <a:rPr lang="en-US" dirty="0" smtClean="0"/>
              <a:t>			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x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j</a:t>
            </a:r>
            <a:endParaRPr lang="en-US" dirty="0" smtClean="0"/>
          </a:p>
          <a:p>
            <a:pPr lvl="2">
              <a:buNone/>
            </a:pPr>
            <a:r>
              <a:rPr lang="en-US" dirty="0" smtClean="0"/>
              <a:t>			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		     if(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&lt;n x n</a:t>
            </a:r>
            <a:r>
              <a:rPr lang="en-US" dirty="0" smtClean="0"/>
              <a:t>)</a:t>
            </a:r>
          </a:p>
          <a:p>
            <a:pPr lvl="1">
              <a:buNone/>
            </a:pPr>
            <a:r>
              <a:rPr lang="en-US" dirty="0" smtClean="0"/>
              <a:t>			 </a:t>
            </a:r>
            <a:r>
              <a:rPr lang="en-US" dirty="0" err="1" smtClean="0"/>
              <a:t>KnightTour</a:t>
            </a:r>
            <a:r>
              <a:rPr lang="en-US" dirty="0" smtClean="0"/>
              <a:t>(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i+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/>
              <a:t>)</a:t>
            </a:r>
          </a:p>
          <a:p>
            <a:pPr lvl="1">
              <a:buNone/>
            </a:pPr>
            <a:r>
              <a:rPr lang="en-US" dirty="0" smtClean="0"/>
              <a:t>		     else</a:t>
            </a:r>
          </a:p>
          <a:p>
            <a:pPr lvl="2">
              <a:buNone/>
            </a:pPr>
            <a:r>
              <a:rPr lang="en-US" dirty="0" smtClean="0"/>
              <a:t>                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endParaRPr lang="en-US" dirty="0" smtClean="0"/>
          </a:p>
          <a:p>
            <a:pPr lvl="2">
              <a:buNone/>
            </a:pPr>
            <a:r>
              <a:rPr lang="en-US" dirty="0" smtClean="0"/>
              <a:t>   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02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512</Words>
  <Application>Microsoft Office PowerPoint</Application>
  <PresentationFormat>On-screen Show (4:3)</PresentationFormat>
  <Paragraphs>72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Ôn tập: Đệ Qui</vt:lpstr>
      <vt:lpstr>Đệ qui (recursion)</vt:lpstr>
      <vt:lpstr>Giải thuật đệ qui</vt:lpstr>
      <vt:lpstr>Ví dụ:</vt:lpstr>
      <vt:lpstr>Ưu, khuyết điểm</vt:lpstr>
      <vt:lpstr>Bài toán mã đi tuần (Knight's tour)</vt:lpstr>
      <vt:lpstr>Ý tưởng</vt:lpstr>
      <vt:lpstr>Cấu trúc dữ liệu</vt:lpstr>
      <vt:lpstr>Thuật toán: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Ôn tập: Đệ Qui</dc:title>
  <dc:creator>TUAN Tri Nguyen</dc:creator>
  <cp:lastModifiedBy>TUAN Tri Nguyen</cp:lastModifiedBy>
  <cp:revision>2</cp:revision>
  <dcterms:created xsi:type="dcterms:W3CDTF">2012-09-28T03:09:49Z</dcterms:created>
  <dcterms:modified xsi:type="dcterms:W3CDTF">2012-12-22T03:40:28Z</dcterms:modified>
</cp:coreProperties>
</file>